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71" r:id="rId14"/>
    <p:sldId id="272" r:id="rId15"/>
    <p:sldId id="273" r:id="rId16"/>
    <p:sldId id="276" r:id="rId17"/>
    <p:sldId id="275" r:id="rId18"/>
    <p:sldId id="267" r:id="rId19"/>
    <p:sldId id="277" r:id="rId20"/>
    <p:sldId id="268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2207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3835F-7EC0-92B3-47A0-6AFFC2DA6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3361A1-5696-8A5C-F3FA-0870A2F608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4D9A19-6A29-7B14-5718-25C3F9F611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61F3D-F0F8-821D-F281-F1E243DA97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516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A31D5-4ED9-CEF8-BA5B-2F2DD5687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205252-D54F-E741-6E49-97E8547ACD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B16E7C-81AC-E4F8-07CC-ECB4A24AA2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A8EAAC-380A-1DDD-C3FC-768823D2A5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0495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73DEC-2BD6-D94E-DDAE-BB949199F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F1F11D-8572-9CA4-24C6-DFFBF5D5A4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6A16F-E74A-5E97-E6E1-D4C07D2A1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51A6ED-EB95-F6D4-F262-054143DA23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1781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E54E0-AB84-466F-DB6B-A011EDC3C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69CD0D-6FE6-B6EE-31DA-A3E8F7E268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0802DD-D1F6-4567-A91B-675C8E33F1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4B63BD-AA7A-3438-351B-CDB4ECC26D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0246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48984-C771-021F-4429-FAED43C56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F9C959-4685-F484-022F-76D65F4D86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C9F6F7-A9FA-A4E1-62C2-D08DC8CD3A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A3F21-1534-E1DD-64E6-8E73EAFE3F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2369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7CFE5-9743-265B-4170-8D585D1F5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2B9DF4-664C-95A0-76E9-8D1C7E305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5090FF-3E11-2F76-8AFA-A335D9093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7E4DA-C06F-2B1B-882C-711CDA08B5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688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E1092-2165-3035-C834-159A39507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68BBAB-0622-76F1-2E63-087585D97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6B8808-1E12-799A-984C-39C58613C5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E0EDA-49B6-9E38-2182-80C20A7DFC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7453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246888"/>
            <a:ext cx="12191695" cy="6858000"/>
          </a:xfrm>
          <a:prstGeom prst="rect">
            <a:avLst/>
          </a:prstGeom>
          <a:solidFill>
            <a:srgbClr val="0B1426"/>
          </a:solidFill>
          <a:ln w="12700">
            <a:solidFill>
              <a:srgbClr val="0B14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229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Year Project Presentation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Blockchain-Based Academic Certificate Issuance and AI-Powered Forgery Detection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58368" y="31546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7E2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Certificate Verification Portal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" y="3675888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3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secure end-to-end platform for certificate issuance, blockchain-backed verification, PDF generation, and CNN-supported forgery detection.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22792" y="247802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22792" y="278892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622792" y="348386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Value Proposition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22792" y="379476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622792" y="448970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 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22792" y="480060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" y="614476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64190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3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Certificate Verification Portal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64240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D3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11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Abstract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summary and academic motivation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555480" y="384048"/>
            <a:ext cx="1965960" cy="365760"/>
          </a:xfrm>
          <a:prstGeom prst="roundRect">
            <a:avLst>
              <a:gd name="adj" fmla="val 12500"/>
            </a:avLst>
          </a:prstGeom>
          <a:solidFill>
            <a:srgbClr val="FFF7E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6064" y="46634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ABSTRACT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190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Certificate Verification Portal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132588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addresses the problem of insecure and time-consuming certificate verification by combining digital issuance, immutable record keeping, and AI-supported document screening in one integrated platform.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" y="2624328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14600"/>
            <a:ext cx="5321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Institutions issue certificates through a web portal and generate a verifiable PDF document for each student.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3282696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72968"/>
            <a:ext cx="5321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cryptographic fingerprint of each certificate is stored in a private blockchain ledger to provide traceability and integrity.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" y="3941064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31336"/>
            <a:ext cx="5321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Verifiers can validate a certificate by ID or upload an image for CNN-based forgery analysis with structural anomaly checks.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" y="4599432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89704"/>
            <a:ext cx="5321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reduces manual effort, speeds up verification, and improves trust among institutions, students, and recruiters.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0" y="1389888"/>
            <a:ext cx="498348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1389888"/>
            <a:ext cx="73152" cy="452628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48272" y="1536192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Deliverables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48272" y="1847088"/>
            <a:ext cx="4727448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Admin and student dashboards.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JWT-authenticated backend API.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PDF certificate generation.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Private blockchain ledger with chained hashes.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CNN-backed forgery detection pipeline.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Verification logs and audit trail.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11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Existing System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Conventional certificate issuance and verification workflow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555480" y="384048"/>
            <a:ext cx="1965960" cy="365760"/>
          </a:xfrm>
          <a:prstGeom prst="roundRect">
            <a:avLst>
              <a:gd name="adj" fmla="val 12500"/>
            </a:avLst>
          </a:prstGeom>
          <a:solidFill>
            <a:srgbClr val="FFF7E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6064" y="46634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LANDSCAPE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190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Certificate Verification Portal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1618488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508760"/>
            <a:ext cx="5321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certificates are commonly issued as printed documents or static PDF files maintained by examination cells.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" y="2276856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167128"/>
            <a:ext cx="5321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 usually depends on manual email, phone, or office-based confirmation from institutional staff.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" y="293522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825496"/>
            <a:ext cx="5321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records, issued files, and verification history are often stored in separate spreadsheets or disconnected systems.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" y="3593592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483864"/>
            <a:ext cx="5321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verifiers rarely receive machine-verifiable proof that a certificate has not been altered after issuance.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" y="4251960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142232"/>
            <a:ext cx="5321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Forgery detection is mostly visual and human-dependent, with no automated screening mechanism.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20840" y="1417320"/>
            <a:ext cx="4572000" cy="4480560"/>
          </a:xfrm>
          <a:prstGeom prst="roundRect">
            <a:avLst>
              <a:gd name="adj" fmla="val 1224"/>
            </a:avLst>
          </a:prstGeom>
          <a:solidFill>
            <a:srgbClr val="EAF1FF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85432" y="1563624"/>
            <a:ext cx="4242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Legacy Flow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49440" y="1828800"/>
            <a:ext cx="41148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1828800"/>
            <a:ext cx="73152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14032" y="197510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1: Certificate Creation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14032" y="228600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Certificate is prepared in office software and printed or exported as a PDF.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949440" y="2788920"/>
            <a:ext cx="41148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49440" y="2788920"/>
            <a:ext cx="73152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14032" y="293522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2: Student Sharing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14032" y="324612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shares scanned copy or PDF with employers, universities, or agencies.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949440" y="3749040"/>
            <a:ext cx="41148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49440" y="3749040"/>
            <a:ext cx="73152" cy="82296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14032" y="389534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3: Manual Verification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114032" y="420624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Verifier contacts the institution and waits for human confirmation.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949440" y="4709160"/>
            <a:ext cx="41148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49440" y="4709160"/>
            <a:ext cx="73152" cy="82296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14032" y="485546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4: Trust Gap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114032" y="516636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edit to name, grade, or signature is difficult to prove unless the original office record is available.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11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Drawbacks of the Existing System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Operational, security, and trust limitations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555480" y="384048"/>
            <a:ext cx="1965960" cy="365760"/>
          </a:xfrm>
          <a:prstGeom prst="roundRect">
            <a:avLst>
              <a:gd name="adj" fmla="val 12500"/>
            </a:avLst>
          </a:prstGeom>
          <a:solidFill>
            <a:srgbClr val="FFF7E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6064" y="46634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ANALYSIS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190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Certificate Verification Portal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1417320"/>
            <a:ext cx="3611880" cy="932688"/>
          </a:xfrm>
          <a:prstGeom prst="roundRect">
            <a:avLst>
              <a:gd name="adj" fmla="val 5882"/>
            </a:avLst>
          </a:prstGeom>
          <a:solidFill>
            <a:srgbClr val="FEF3F2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417320"/>
            <a:ext cx="73152" cy="93268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563624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and Slow Verification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1874520"/>
            <a:ext cx="3355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 requests depend on staff availability, official working hours, and email response cycles.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62272" y="1417320"/>
            <a:ext cx="3611880" cy="932688"/>
          </a:xfrm>
          <a:prstGeom prst="roundRect">
            <a:avLst>
              <a:gd name="adj" fmla="val 5882"/>
            </a:avLst>
          </a:prstGeom>
          <a:solidFill>
            <a:srgbClr val="FEF3F2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62272" y="1417320"/>
            <a:ext cx="73152" cy="93268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1563624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Document Manipulation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26864" y="1874520"/>
            <a:ext cx="3355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Names, grades, seals, and signatures can be edited in image editors without an embedded authenticity check.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75320" y="1417320"/>
            <a:ext cx="3246120" cy="932688"/>
          </a:xfrm>
          <a:prstGeom prst="roundRect">
            <a:avLst>
              <a:gd name="adj" fmla="val 5882"/>
            </a:avLst>
          </a:prstGeom>
          <a:solidFill>
            <a:srgbClr val="FEF3F2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5320" y="1417320"/>
            <a:ext cx="73152" cy="93268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39912" y="1563624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Immutable Record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39912" y="187452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systems do not maintain a tamper-evident chain for issued certificate fingerprints.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49808" y="2944368"/>
            <a:ext cx="91440" cy="9144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2834640"/>
            <a:ext cx="6419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Lack of centralized audit logs makes it difficult to review who issued or verified a certificate.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9808" y="3602736"/>
            <a:ext cx="91440" cy="9144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493008"/>
            <a:ext cx="6419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spreadsheets and offline files increase the risk of duplication and inconsistent records.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49808" y="4261104"/>
            <a:ext cx="91440" cy="9144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151376"/>
            <a:ext cx="6419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Recruiters and external agencies cannot perform independent real-time verification.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49808" y="4919472"/>
            <a:ext cx="91440" cy="9144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809744"/>
            <a:ext cx="6419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checking does not scale well when institutions issue certificates in large volumes.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49808" y="5577840"/>
            <a:ext cx="91440" cy="9144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5468112"/>
            <a:ext cx="6419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in digital copies remains low because authenticity depends on trust rather than cryptographic evidence.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818120" y="2743200"/>
            <a:ext cx="3611880" cy="2423160"/>
          </a:xfrm>
          <a:prstGeom prst="roundRect">
            <a:avLst>
              <a:gd name="adj" fmla="val 2264"/>
            </a:avLst>
          </a:prstGeom>
          <a:solidFill>
            <a:srgbClr val="FFF7E1"/>
          </a:solidFill>
          <a:ln w="1524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82712" y="2889504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on Stakeholders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028432" y="3355848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93024" y="324612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Institutions spend time on repetitive validation tasks.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028432" y="3959352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93024" y="3849624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face delays while proving their credentials.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028432" y="4562856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93024" y="4453128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Employers risk accepting forged or altered certificates.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11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System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issuance, verification, and forgery screening platform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555480" y="384048"/>
            <a:ext cx="1965960" cy="365760"/>
          </a:xfrm>
          <a:prstGeom prst="roundRect">
            <a:avLst>
              <a:gd name="adj" fmla="val 12500"/>
            </a:avLst>
          </a:prstGeom>
          <a:solidFill>
            <a:srgbClr val="FFF7E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6064" y="46634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SOLUTION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190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Certificate Verification Portal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1554480"/>
            <a:ext cx="91440" cy="9144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444752"/>
            <a:ext cx="6236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a role-based web portal for administrators and students using a unified full-stack architecture.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" y="2194560"/>
            <a:ext cx="91440" cy="9144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084832"/>
            <a:ext cx="6236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a certificate PDF and compute a cryptographic document hash at the time of issuance.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" y="2834640"/>
            <a:ext cx="91440" cy="9144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724912"/>
            <a:ext cx="6236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the hash in a private append-only blockchain ledger to preserve integrity and traceability.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" y="3474720"/>
            <a:ext cx="91440" cy="9144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364992"/>
            <a:ext cx="6236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 verifiers to validate a certificate instantly using the certificate ID and the corresponding ledger record.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" y="4114800"/>
            <a:ext cx="91440" cy="9144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005072"/>
            <a:ext cx="6236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 uploaded certificate images with a CNN-assisted forgery detector enhanced by crop and edit-region heuristics.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" y="4754880"/>
            <a:ext cx="91440" cy="9144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645152"/>
            <a:ext cx="6236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 verification logs to support auditability, reporting, and institutional accountability.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498080" y="1417320"/>
            <a:ext cx="3977640" cy="4526280"/>
          </a:xfrm>
          <a:prstGeom prst="roundRect">
            <a:avLst>
              <a:gd name="adj" fmla="val 1379"/>
            </a:avLst>
          </a:prstGeom>
          <a:solidFill>
            <a:srgbClr val="E8FBF8"/>
          </a:solidFill>
          <a:ln w="15240">
            <a:solidFill>
              <a:srgbClr val="0F9D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62672" y="1563624"/>
            <a:ext cx="3648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9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Workflow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54112" y="182880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54112" y="19202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9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47888" y="1856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creates student and certificate data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754112" y="26243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54112" y="271576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9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47888" y="265176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generates PDF and document fingerprint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754112" y="341985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54112" y="351129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9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47888" y="344728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ledger stores the certificate block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754112" y="4215384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54112" y="430682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9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47888" y="4242816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accesses and shares certificate ID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754112" y="501091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54112" y="510235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9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247888" y="503834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Verifier checks by ID or uploads an image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11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Advantages of the Proposed System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new model is stronger than the conventional process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555480" y="384048"/>
            <a:ext cx="1965960" cy="365760"/>
          </a:xfrm>
          <a:prstGeom prst="roundRect">
            <a:avLst>
              <a:gd name="adj" fmla="val 12500"/>
            </a:avLst>
          </a:prstGeom>
          <a:solidFill>
            <a:srgbClr val="FFF7E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6064" y="46634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190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Certificate Verification Portal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1600200"/>
            <a:ext cx="3474720" cy="1600200"/>
          </a:xfrm>
          <a:prstGeom prst="roundRect">
            <a:avLst>
              <a:gd name="adj" fmla="val 3429"/>
            </a:avLst>
          </a:prstGeom>
          <a:solidFill>
            <a:srgbClr val="EAF1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600200"/>
            <a:ext cx="73152" cy="1600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74650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verification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057400"/>
            <a:ext cx="321868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Certificate status can be checked instantly without waiting for manual institutional confirmation.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71416" y="1600200"/>
            <a:ext cx="3474720" cy="1600200"/>
          </a:xfrm>
          <a:prstGeom prst="roundRect">
            <a:avLst>
              <a:gd name="adj" fmla="val 3429"/>
            </a:avLst>
          </a:prstGeom>
          <a:solidFill>
            <a:srgbClr val="FFF7E1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71416" y="1600200"/>
            <a:ext cx="73152" cy="1600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36008" y="174650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Tamper evidence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36008" y="2057400"/>
            <a:ext cx="321868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mismatch between the stored fingerprint and the presented document can be detected during validation.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84464" y="1600200"/>
            <a:ext cx="3474720" cy="1600200"/>
          </a:xfrm>
          <a:prstGeom prst="roundRect">
            <a:avLst>
              <a:gd name="adj" fmla="val 3429"/>
            </a:avLst>
          </a:prstGeom>
          <a:solidFill>
            <a:srgbClr val="E8FBF8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84464" y="1600200"/>
            <a:ext cx="73152" cy="160020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49056" y="174650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assistance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49056" y="2057400"/>
            <a:ext cx="321868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CNN-based detector screens uploaded images for suspicious cropping, editing, and layout anomalies.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8368" y="3611880"/>
            <a:ext cx="3474720" cy="1600200"/>
          </a:xfrm>
          <a:prstGeom prst="roundRect">
            <a:avLst>
              <a:gd name="adj" fmla="val 3429"/>
            </a:avLst>
          </a:prstGeom>
          <a:solidFill>
            <a:srgbClr val="EAF1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3611880"/>
            <a:ext cx="73152" cy="1600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75818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Auditability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4069080"/>
            <a:ext cx="321868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 logs and issuance records provide a transparent history for institutional review.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71416" y="3611880"/>
            <a:ext cx="3474720" cy="1600200"/>
          </a:xfrm>
          <a:prstGeom prst="roundRect">
            <a:avLst>
              <a:gd name="adj" fmla="val 3429"/>
            </a:avLst>
          </a:prstGeom>
          <a:solidFill>
            <a:srgbClr val="FFF7E1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71416" y="3611880"/>
            <a:ext cx="73152" cy="1600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36008" y="375818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trust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36008" y="4069080"/>
            <a:ext cx="321868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Students, recruiters, and external agencies can rely on a verifiable digital record rather than visual inspection alone.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84464" y="3611880"/>
            <a:ext cx="3474720" cy="1600200"/>
          </a:xfrm>
          <a:prstGeom prst="roundRect">
            <a:avLst>
              <a:gd name="adj" fmla="val 3429"/>
            </a:avLst>
          </a:prstGeom>
          <a:solidFill>
            <a:srgbClr val="E8FBF8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84464" y="3611880"/>
            <a:ext cx="73152" cy="160020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49056" y="375818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Scalable deployment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49056" y="4069080"/>
            <a:ext cx="321868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runs on a standard Node.js stack and can be extended with real databases or cloud infrastructure.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11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 Diagram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Logical view of the implemented end-to-end platform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555480" y="384048"/>
            <a:ext cx="1965960" cy="365760"/>
          </a:xfrm>
          <a:prstGeom prst="roundRect">
            <a:avLst>
              <a:gd name="adj" fmla="val 12500"/>
            </a:avLst>
          </a:prstGeom>
          <a:solidFill>
            <a:srgbClr val="FFF7E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6064" y="46634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190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Certificate Verification Portal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69164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691640"/>
            <a:ext cx="73152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1837944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" y="2148840"/>
            <a:ext cx="17099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verifier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88920" y="1691640"/>
            <a:ext cx="20574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88920" y="1691640"/>
            <a:ext cx="73152" cy="10515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53512" y="1837944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Frontend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53512" y="2148840"/>
            <a:ext cx="18013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Login, dashboards,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issuance forms, verification UI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66360" y="150876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66360" y="1508760"/>
            <a:ext cx="73152" cy="14173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30952" y="1655064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 Backend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30952" y="1965960"/>
            <a:ext cx="207568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Routing, JWT auth, validation,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logic and service orchestration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487168" y="2212848"/>
            <a:ext cx="274320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873752" y="2212848"/>
            <a:ext cx="256032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001000" y="914400"/>
            <a:ext cx="33832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01000" y="914400"/>
            <a:ext cx="73152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65592" y="106070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Data Store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65592" y="1371600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Users, certificates,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 logs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498080" y="2212848"/>
            <a:ext cx="411480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001000" y="2057400"/>
            <a:ext cx="33832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01000" y="2057400"/>
            <a:ext cx="73152" cy="868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65592" y="220370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Blockchain Ledger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165592" y="2514600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Hash-chained blocks,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 fingerprints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498080" y="2212848"/>
            <a:ext cx="411480" cy="256032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001000" y="3200400"/>
            <a:ext cx="33832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01000" y="3200400"/>
            <a:ext cx="73152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65592" y="334670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Generation &amp; Storage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165592" y="3657600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Certificate rendering,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downloadable PDF copies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498080" y="2212848"/>
            <a:ext cx="411480" cy="1399032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001000" y="4343400"/>
            <a:ext cx="33832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01000" y="4343400"/>
            <a:ext cx="73152" cy="868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65592" y="448970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Forgery Detection Engine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165592" y="4800600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 classifier,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heuristics and risk scoring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498080" y="2212848"/>
            <a:ext cx="411480" cy="2542032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658368" y="5577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Certificate issuance writes to the data store, PDF storage, and private ledger. Verification requests consult the ledger and AI engine before returning the final authenticity result.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11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Modules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decomposition of the implemented solution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555480" y="384048"/>
            <a:ext cx="1965960" cy="365760"/>
          </a:xfrm>
          <a:prstGeom prst="roundRect">
            <a:avLst>
              <a:gd name="adj" fmla="val 12500"/>
            </a:avLst>
          </a:prstGeom>
          <a:solidFill>
            <a:srgbClr val="FFF7E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6064" y="46634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DESIGN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190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Certificate Verification Portal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1417320"/>
            <a:ext cx="51663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417320"/>
            <a:ext cx="73152" cy="1143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563624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01. Presentation Layer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1874520"/>
            <a:ext cx="49103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Login, admin dashboard, student dashboard, certificate views, and upload-based verification screens.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73368" y="1417320"/>
            <a:ext cx="51663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73368" y="1417320"/>
            <a:ext cx="73152" cy="1143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1563624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02. Authentication and API Layer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37960" y="1874520"/>
            <a:ext cx="49103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JWT-based access control, request validation, role handling, and REST endpoints.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" y="2926080"/>
            <a:ext cx="51663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2926080"/>
            <a:ext cx="73152" cy="1143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072384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03. Certificate Management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3383280"/>
            <a:ext cx="49103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registration, certificate issuance, metadata storage, and verification count updates.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73368" y="2926080"/>
            <a:ext cx="51663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73368" y="2926080"/>
            <a:ext cx="73152" cy="1143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3072384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04. PDF Document Generator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37960" y="3383280"/>
            <a:ext cx="49103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downloadable certificate files with institutional details and verification metadata.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8368" y="4434840"/>
            <a:ext cx="51663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4434840"/>
            <a:ext cx="73152" cy="114300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581144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05. Private Blockchain Ledger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4892040"/>
            <a:ext cx="49103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 immutable certificate fingerprints in chained blocks with transaction identifiers.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73368" y="4434840"/>
            <a:ext cx="51663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73368" y="4434840"/>
            <a:ext cx="73152" cy="114300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4581144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06. AI Verification and Audit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37960" y="4892040"/>
            <a:ext cx="49103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CNN-supported forgery detection and stores verification logs for accountability.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11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Explanation of Proposed Modules - Part 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interaction, API services, and issuance workflow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555480" y="384048"/>
            <a:ext cx="1965960" cy="365760"/>
          </a:xfrm>
          <a:prstGeom prst="roundRect">
            <a:avLst>
              <a:gd name="adj" fmla="val 12500"/>
            </a:avLst>
          </a:prstGeom>
          <a:solidFill>
            <a:srgbClr val="FFF7E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6064" y="46634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DETAILS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190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Certificate Verification Portal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1417320"/>
            <a:ext cx="10972800" cy="1143000"/>
          </a:xfrm>
          <a:prstGeom prst="roundRect">
            <a:avLst>
              <a:gd name="adj" fmla="val 4800"/>
            </a:avLst>
          </a:prstGeom>
          <a:solidFill>
            <a:srgbClr val="EAF1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417320"/>
            <a:ext cx="73152" cy="1143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563624"/>
            <a:ext cx="10716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 Layer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1874520"/>
            <a:ext cx="107167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with React and Vite. It provides login, role-based navigation, student management, certificate issuance forms, certificate history views, and verification screens. This module ensures a clean user experience for administrators, students, and verifiers.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" y="2743200"/>
            <a:ext cx="10972800" cy="1143000"/>
          </a:xfrm>
          <a:prstGeom prst="roundRect">
            <a:avLst>
              <a:gd name="adj" fmla="val 4800"/>
            </a:avLst>
          </a:prstGeom>
          <a:solidFill>
            <a:srgbClr val="FFF7E1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2743200"/>
            <a:ext cx="73152" cy="1143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889504"/>
            <a:ext cx="10716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and API Layer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3200400"/>
            <a:ext cx="107167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 with Express, JWT, and validation utilities. It protects admin-only routes, manages sessions, validates requests, and exposes REST endpoints for students, certificates, verification, and system health.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" y="4069080"/>
            <a:ext cx="10972800" cy="1417320"/>
          </a:xfrm>
          <a:prstGeom prst="roundRect">
            <a:avLst>
              <a:gd name="adj" fmla="val 3871"/>
            </a:avLst>
          </a:prstGeom>
          <a:solidFill>
            <a:srgbClr val="E8FBF8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069080"/>
            <a:ext cx="73152" cy="14173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215384"/>
            <a:ext cx="10716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Certificate Management and PDF Generation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4526280"/>
            <a:ext cx="1071676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module issues certificate IDs, binds the certificate to a registered student, computes the document fingerprint, and generates a polished PDF with academic metadata, block number, and verification hash. It supports traceable digital issuance instead of isolated document files.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11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Explanation of Proposed Modules - Part II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Ledger, AI analysis, and verification workflow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555480" y="384048"/>
            <a:ext cx="1965960" cy="365760"/>
          </a:xfrm>
          <a:prstGeom prst="roundRect">
            <a:avLst>
              <a:gd name="adj" fmla="val 12500"/>
            </a:avLst>
          </a:prstGeom>
          <a:solidFill>
            <a:srgbClr val="FFF7E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6064" y="46634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DETAILS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190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Certificate Verification Portal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1417320"/>
            <a:ext cx="10972800" cy="1234440"/>
          </a:xfrm>
          <a:prstGeom prst="roundRect">
            <a:avLst>
              <a:gd name="adj" fmla="val 4444"/>
            </a:avLst>
          </a:prstGeom>
          <a:solidFill>
            <a:srgbClr val="FFF7E1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417320"/>
            <a:ext cx="73152" cy="1234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563624"/>
            <a:ext cx="10716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Blockchain Ledger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1874520"/>
            <a:ext cx="1071676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permissioned append-only ledger stores the certificate payload hash, previous block hash, transaction ID, and block hash. This creates an immutable chain of issued credentials and enables integrity checking during verification.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" y="2834640"/>
            <a:ext cx="10972800" cy="1417320"/>
          </a:xfrm>
          <a:prstGeom prst="roundRect">
            <a:avLst>
              <a:gd name="adj" fmla="val 3871"/>
            </a:avLst>
          </a:prstGeom>
          <a:solidFill>
            <a:srgbClr val="E8FBF8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2834640"/>
            <a:ext cx="73152" cy="14173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980944"/>
            <a:ext cx="10716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Forgery Detection Engine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3291840"/>
            <a:ext cx="1071676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AI layer uses a lightweight binary CNN classifier implemented in ConvNetJS. It is trained on synthetic authentic and forged certificate-like samples. The detector is strengthened with border checks, crop detection, row anomaly analysis, tile outlier scoring, and edit-band scoring for suspicious text replacement.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" y="4480560"/>
            <a:ext cx="10972800" cy="1005840"/>
          </a:xfrm>
          <a:prstGeom prst="roundRect">
            <a:avLst>
              <a:gd name="adj" fmla="val 5455"/>
            </a:avLst>
          </a:prstGeom>
          <a:solidFill>
            <a:srgbClr val="EAF1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480560"/>
            <a:ext cx="73152" cy="10058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626864"/>
            <a:ext cx="10716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 and Audit Logging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4937760"/>
            <a:ext cx="10716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 by certificate ID checks the stored ledger record, while image upload verification checks the AI engine. Every verification event is logged with timestamp, mode, confidence, and result for auditability.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11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Hardware and Software Requirements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environment for development and demonstration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555480" y="384048"/>
            <a:ext cx="1965960" cy="365760"/>
          </a:xfrm>
          <a:prstGeom prst="roundRect">
            <a:avLst>
              <a:gd name="adj" fmla="val 12500"/>
            </a:avLst>
          </a:prstGeom>
          <a:solidFill>
            <a:srgbClr val="FFF7E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6064" y="46634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190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Certificate Verification Portal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1417320"/>
            <a:ext cx="5303520" cy="4526280"/>
          </a:xfrm>
          <a:prstGeom prst="roundRect">
            <a:avLst>
              <a:gd name="adj" fmla="val 1212"/>
            </a:avLst>
          </a:prstGeom>
          <a:solidFill>
            <a:srgbClr val="EAF1FF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563624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Hardware Requirements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1984248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1874520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Processor: Intel Core i5 / AMD Ryzen 5 or above recommended; dual-core minimum for basic execution.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868680" y="2642616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3272" y="2532888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Memory: 8 GB RAM recommended; 4 GB minimum for classroom demonstration.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868680" y="330098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3191256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Storage: Minimum 10 GB free disk space for project files, generated PDFs, models, and dependencies.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868680" y="3959352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3849624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Display: 1366 x 768 resolution or higher for comfortable dashboard usage and presentation display.</a:t>
            </a:r>
            <a:endParaRPr lang="en-US" sz="1240" dirty="0"/>
          </a:p>
        </p:txBody>
      </p:sp>
      <p:sp>
        <p:nvSpPr>
          <p:cNvPr id="20" name="Shape 18"/>
          <p:cNvSpPr/>
          <p:nvPr/>
        </p:nvSpPr>
        <p:spPr>
          <a:xfrm>
            <a:off x="868680" y="4617720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4507992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Network: Internet access recommended for package installation and future deployment extensions.</a:t>
            </a:r>
            <a:endParaRPr lang="en-US" sz="1240" dirty="0"/>
          </a:p>
        </p:txBody>
      </p:sp>
      <p:sp>
        <p:nvSpPr>
          <p:cNvPr id="22" name="Shape 20"/>
          <p:cNvSpPr/>
          <p:nvPr/>
        </p:nvSpPr>
        <p:spPr>
          <a:xfrm>
            <a:off x="6236208" y="1417320"/>
            <a:ext cx="5303520" cy="4526280"/>
          </a:xfrm>
          <a:prstGeom prst="roundRect">
            <a:avLst>
              <a:gd name="adj" fmla="val 1212"/>
            </a:avLst>
          </a:prstGeom>
          <a:solidFill>
            <a:srgbClr val="FFF7E1"/>
          </a:solidFill>
          <a:ln w="1524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563624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Requirements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46520" y="1984248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11112" y="1874520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System: Windows 10/11, Linux, or macOS.</a:t>
            </a:r>
            <a:endParaRPr lang="en-US" sz="1240" dirty="0"/>
          </a:p>
        </p:txBody>
      </p:sp>
      <p:sp>
        <p:nvSpPr>
          <p:cNvPr id="26" name="Shape 24"/>
          <p:cNvSpPr/>
          <p:nvPr/>
        </p:nvSpPr>
        <p:spPr>
          <a:xfrm>
            <a:off x="6446520" y="2642616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11112" y="2532888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Runtime: Node.js 20+ recommended; npm package manager.</a:t>
            </a:r>
            <a:endParaRPr lang="en-US" sz="1240" dirty="0"/>
          </a:p>
        </p:txBody>
      </p:sp>
      <p:sp>
        <p:nvSpPr>
          <p:cNvPr id="28" name="Shape 26"/>
          <p:cNvSpPr/>
          <p:nvPr/>
        </p:nvSpPr>
        <p:spPr>
          <a:xfrm>
            <a:off x="6446520" y="3300984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11112" y="3191256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Stack: React 18, Vite 5, React Router, Axios.</a:t>
            </a:r>
            <a:endParaRPr lang="en-US" sz="1240" dirty="0"/>
          </a:p>
        </p:txBody>
      </p:sp>
      <p:sp>
        <p:nvSpPr>
          <p:cNvPr id="30" name="Shape 28"/>
          <p:cNvSpPr/>
          <p:nvPr/>
        </p:nvSpPr>
        <p:spPr>
          <a:xfrm>
            <a:off x="6446520" y="3959352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11112" y="3849624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Stack: Express 5, JWT, Multer, Zod, PDF-Lib, Jimp.</a:t>
            </a:r>
            <a:endParaRPr lang="en-US" sz="1240" dirty="0"/>
          </a:p>
        </p:txBody>
      </p:sp>
      <p:sp>
        <p:nvSpPr>
          <p:cNvPr id="32" name="Shape 30"/>
          <p:cNvSpPr/>
          <p:nvPr/>
        </p:nvSpPr>
        <p:spPr>
          <a:xfrm>
            <a:off x="6446520" y="4617720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11112" y="4507992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Component: ConvNetJS-based CNN classifier with generated model file.</a:t>
            </a:r>
            <a:endParaRPr lang="en-US" sz="1240" dirty="0"/>
          </a:p>
        </p:txBody>
      </p:sp>
      <p:sp>
        <p:nvSpPr>
          <p:cNvPr id="34" name="Shape 32"/>
          <p:cNvSpPr/>
          <p:nvPr/>
        </p:nvSpPr>
        <p:spPr>
          <a:xfrm>
            <a:off x="6446520" y="5276088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11112" y="5166360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 Tools: VS Code or equivalent IDE, modern browser such as Chrome or Edge.</a:t>
            </a:r>
            <a:endParaRPr lang="en-US" sz="12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9C434-B099-D615-C40B-198B2B061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D70F831-3778-4849-0A9F-B73B8E06BEEF}"/>
              </a:ext>
            </a:extLst>
          </p:cNvPr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5627B7D-813F-2052-E91F-8A3E2F48DCE1}"/>
              </a:ext>
            </a:extLst>
          </p:cNvPr>
          <p:cNvSpPr/>
          <p:nvPr/>
        </p:nvSpPr>
        <p:spPr>
          <a:xfrm>
            <a:off x="530352" y="411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Screenshots</a:t>
            </a:r>
            <a:endParaRPr lang="en-US" sz="2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D5D7286-6B3A-909F-089C-B88739F81AF3}"/>
              </a:ext>
            </a:extLst>
          </p:cNvPr>
          <p:cNvSpPr/>
          <p:nvPr/>
        </p:nvSpPr>
        <p:spPr>
          <a:xfrm>
            <a:off x="9555480" y="384048"/>
            <a:ext cx="1965960" cy="365760"/>
          </a:xfrm>
          <a:prstGeom prst="roundRect">
            <a:avLst>
              <a:gd name="adj" fmla="val 12500"/>
            </a:avLst>
          </a:prstGeom>
          <a:solidFill>
            <a:srgbClr val="FFF7E1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02E6CEE-9252-AA78-522A-9E37758A5272}"/>
              </a:ext>
            </a:extLst>
          </p:cNvPr>
          <p:cNvSpPr/>
          <p:nvPr/>
        </p:nvSpPr>
        <p:spPr>
          <a:xfrm>
            <a:off x="9656064" y="46634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3E12B5C-681D-C96E-3684-D64E6278CBB8}"/>
              </a:ext>
            </a:extLst>
          </p:cNvPr>
          <p:cNvSpPr/>
          <p:nvPr/>
        </p:nvSpPr>
        <p:spPr>
          <a:xfrm>
            <a:off x="502920" y="64190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Certificate Verification Portal</a:t>
            </a: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9A67F3B-7718-1E59-C88C-742E4C444990}"/>
              </a:ext>
            </a:extLst>
          </p:cNvPr>
          <p:cNvSpPr/>
          <p:nvPr/>
        </p:nvSpPr>
        <p:spPr>
          <a:xfrm>
            <a:off x="11064240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FDDD7A9-4E46-32AE-7FA8-813AD34BE368}"/>
              </a:ext>
            </a:extLst>
          </p:cNvPr>
          <p:cNvSpPr/>
          <p:nvPr/>
        </p:nvSpPr>
        <p:spPr>
          <a:xfrm>
            <a:off x="1033272" y="4507992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4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66F69B2-816D-7D7F-D2A2-F15B4DA02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333" y="1051560"/>
            <a:ext cx="4534293" cy="434377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2AC02136-B673-77C0-0C7D-8A3AEABF30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1544" y="1051560"/>
            <a:ext cx="5896947" cy="434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103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38DED-FBD6-1125-6655-CDF5FCB8A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D993B8A-B51F-EA7A-3692-7E8235964DB8}"/>
              </a:ext>
            </a:extLst>
          </p:cNvPr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1074141-372F-42C0-23F6-F7F6353E4F75}"/>
              </a:ext>
            </a:extLst>
          </p:cNvPr>
          <p:cNvSpPr/>
          <p:nvPr/>
        </p:nvSpPr>
        <p:spPr>
          <a:xfrm>
            <a:off x="530352" y="411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Screenshots</a:t>
            </a:r>
            <a:endParaRPr lang="en-US" sz="2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5E22184-1E10-0856-3055-0C54A677E993}"/>
              </a:ext>
            </a:extLst>
          </p:cNvPr>
          <p:cNvSpPr/>
          <p:nvPr/>
        </p:nvSpPr>
        <p:spPr>
          <a:xfrm>
            <a:off x="9555480" y="384048"/>
            <a:ext cx="1965960" cy="365760"/>
          </a:xfrm>
          <a:prstGeom prst="roundRect">
            <a:avLst>
              <a:gd name="adj" fmla="val 12500"/>
            </a:avLst>
          </a:prstGeom>
          <a:solidFill>
            <a:srgbClr val="FFF7E1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F365D39-E3C7-7697-BEAD-89FD99F97241}"/>
              </a:ext>
            </a:extLst>
          </p:cNvPr>
          <p:cNvSpPr/>
          <p:nvPr/>
        </p:nvSpPr>
        <p:spPr>
          <a:xfrm>
            <a:off x="9656064" y="46634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7EEFD55-97A8-EC40-334A-8641F92D13D2}"/>
              </a:ext>
            </a:extLst>
          </p:cNvPr>
          <p:cNvSpPr/>
          <p:nvPr/>
        </p:nvSpPr>
        <p:spPr>
          <a:xfrm>
            <a:off x="502920" y="64190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Certificate Verification Portal</a:t>
            </a: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3297457-62F8-D06A-E64B-D87B3A4251FD}"/>
              </a:ext>
            </a:extLst>
          </p:cNvPr>
          <p:cNvSpPr/>
          <p:nvPr/>
        </p:nvSpPr>
        <p:spPr>
          <a:xfrm>
            <a:off x="11064240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F9D2402-A265-199C-5B53-BA9FC472E25D}"/>
              </a:ext>
            </a:extLst>
          </p:cNvPr>
          <p:cNvSpPr/>
          <p:nvPr/>
        </p:nvSpPr>
        <p:spPr>
          <a:xfrm>
            <a:off x="1033272" y="4507992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4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8ECB10-40F3-E51E-5B1E-38F90E20D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636" y="1051560"/>
            <a:ext cx="7424428" cy="5264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709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A460E-31C3-F154-970F-C15B8E3F1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1C0EEA71-C8A1-94A5-3BC3-1A8FA694FFE8}"/>
              </a:ext>
            </a:extLst>
          </p:cNvPr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605B618-B3B9-DF2D-2157-7D88598579FC}"/>
              </a:ext>
            </a:extLst>
          </p:cNvPr>
          <p:cNvSpPr/>
          <p:nvPr/>
        </p:nvSpPr>
        <p:spPr>
          <a:xfrm>
            <a:off x="530352" y="411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Screenshots</a:t>
            </a:r>
            <a:endParaRPr lang="en-US" sz="2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933F5A2-7CD9-D14C-511F-EF1174582802}"/>
              </a:ext>
            </a:extLst>
          </p:cNvPr>
          <p:cNvSpPr/>
          <p:nvPr/>
        </p:nvSpPr>
        <p:spPr>
          <a:xfrm>
            <a:off x="9555480" y="384048"/>
            <a:ext cx="1965960" cy="365760"/>
          </a:xfrm>
          <a:prstGeom prst="roundRect">
            <a:avLst>
              <a:gd name="adj" fmla="val 12500"/>
            </a:avLst>
          </a:prstGeom>
          <a:solidFill>
            <a:srgbClr val="FFF7E1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BFBF7EF-49C5-B35B-4D24-830389C8AE65}"/>
              </a:ext>
            </a:extLst>
          </p:cNvPr>
          <p:cNvSpPr/>
          <p:nvPr/>
        </p:nvSpPr>
        <p:spPr>
          <a:xfrm>
            <a:off x="9656064" y="46634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08A60C2-B624-9346-F35D-E3619F46F312}"/>
              </a:ext>
            </a:extLst>
          </p:cNvPr>
          <p:cNvSpPr/>
          <p:nvPr/>
        </p:nvSpPr>
        <p:spPr>
          <a:xfrm>
            <a:off x="502920" y="64190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Certificate Verification Portal</a:t>
            </a: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FE25262-D469-07F0-6079-967588991358}"/>
              </a:ext>
            </a:extLst>
          </p:cNvPr>
          <p:cNvSpPr/>
          <p:nvPr/>
        </p:nvSpPr>
        <p:spPr>
          <a:xfrm>
            <a:off x="11064240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6746498-CDDB-AA31-25D2-639EE46325C6}"/>
              </a:ext>
            </a:extLst>
          </p:cNvPr>
          <p:cNvSpPr/>
          <p:nvPr/>
        </p:nvSpPr>
        <p:spPr>
          <a:xfrm>
            <a:off x="1033272" y="4507992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4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CD23A9-F7D5-BA20-BA7E-C7C4709A8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868" y="802059"/>
            <a:ext cx="7900616" cy="561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551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2D65A-9E69-801B-2CC3-AFE0F1211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D6F3018-8852-F4FF-9A25-B3056A7ACD29}"/>
              </a:ext>
            </a:extLst>
          </p:cNvPr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38A9A79-5219-1059-FCBA-FC5DB6442922}"/>
              </a:ext>
            </a:extLst>
          </p:cNvPr>
          <p:cNvSpPr/>
          <p:nvPr/>
        </p:nvSpPr>
        <p:spPr>
          <a:xfrm>
            <a:off x="530352" y="411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Screenshots</a:t>
            </a:r>
            <a:endParaRPr lang="en-US" sz="2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6ED4B5D-F0AA-271B-AD0A-849E3C9B48C5}"/>
              </a:ext>
            </a:extLst>
          </p:cNvPr>
          <p:cNvSpPr/>
          <p:nvPr/>
        </p:nvSpPr>
        <p:spPr>
          <a:xfrm>
            <a:off x="9555480" y="384048"/>
            <a:ext cx="1965960" cy="365760"/>
          </a:xfrm>
          <a:prstGeom prst="roundRect">
            <a:avLst>
              <a:gd name="adj" fmla="val 12500"/>
            </a:avLst>
          </a:prstGeom>
          <a:solidFill>
            <a:srgbClr val="FFF7E1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7F6102E-E866-F4DF-43D5-3314C41513AA}"/>
              </a:ext>
            </a:extLst>
          </p:cNvPr>
          <p:cNvSpPr/>
          <p:nvPr/>
        </p:nvSpPr>
        <p:spPr>
          <a:xfrm>
            <a:off x="9656064" y="46634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A14D7D2-91F3-3855-336B-E844DAFE9C34}"/>
              </a:ext>
            </a:extLst>
          </p:cNvPr>
          <p:cNvSpPr/>
          <p:nvPr/>
        </p:nvSpPr>
        <p:spPr>
          <a:xfrm>
            <a:off x="502920" y="64190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Certificate Verification Portal</a:t>
            </a: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E2A9620-E8C8-F4DE-2BA0-B810DC4BAB2C}"/>
              </a:ext>
            </a:extLst>
          </p:cNvPr>
          <p:cNvSpPr/>
          <p:nvPr/>
        </p:nvSpPr>
        <p:spPr>
          <a:xfrm>
            <a:off x="11064240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003205F-2709-9228-788C-2022FB6C46D7}"/>
              </a:ext>
            </a:extLst>
          </p:cNvPr>
          <p:cNvSpPr/>
          <p:nvPr/>
        </p:nvSpPr>
        <p:spPr>
          <a:xfrm>
            <a:off x="1033272" y="4507992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4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A7917C-B2AD-6213-3062-28E216C0C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114" y="777240"/>
            <a:ext cx="6974920" cy="5558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078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5C007-D784-AC2A-3C85-7262266BC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9CB8E76-2BFC-FDE4-1913-EC6EC97F7B4F}"/>
              </a:ext>
            </a:extLst>
          </p:cNvPr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8128EAD-79FF-EC45-8F78-EA253115E2F6}"/>
              </a:ext>
            </a:extLst>
          </p:cNvPr>
          <p:cNvSpPr/>
          <p:nvPr/>
        </p:nvSpPr>
        <p:spPr>
          <a:xfrm>
            <a:off x="530352" y="411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Screenshots</a:t>
            </a:r>
            <a:endParaRPr lang="en-US" sz="2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827AE59-D77A-9EA1-901A-8D676E019DC2}"/>
              </a:ext>
            </a:extLst>
          </p:cNvPr>
          <p:cNvSpPr/>
          <p:nvPr/>
        </p:nvSpPr>
        <p:spPr>
          <a:xfrm>
            <a:off x="9555480" y="384048"/>
            <a:ext cx="1965960" cy="365760"/>
          </a:xfrm>
          <a:prstGeom prst="roundRect">
            <a:avLst>
              <a:gd name="adj" fmla="val 12500"/>
            </a:avLst>
          </a:prstGeom>
          <a:solidFill>
            <a:srgbClr val="FFF7E1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1846B2C-F3DC-E853-836F-31D2C9367076}"/>
              </a:ext>
            </a:extLst>
          </p:cNvPr>
          <p:cNvSpPr/>
          <p:nvPr/>
        </p:nvSpPr>
        <p:spPr>
          <a:xfrm>
            <a:off x="9656064" y="46634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CA00BF9-F368-FC81-4BD6-E292DC5E9F6E}"/>
              </a:ext>
            </a:extLst>
          </p:cNvPr>
          <p:cNvSpPr/>
          <p:nvPr/>
        </p:nvSpPr>
        <p:spPr>
          <a:xfrm>
            <a:off x="502920" y="64190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Certificate Verification Portal</a:t>
            </a: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A493D49-A7AE-A917-3DDA-20F679C80F24}"/>
              </a:ext>
            </a:extLst>
          </p:cNvPr>
          <p:cNvSpPr/>
          <p:nvPr/>
        </p:nvSpPr>
        <p:spPr>
          <a:xfrm>
            <a:off x="11064240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EF51E21-485E-71A2-6941-D0006FAF23E1}"/>
              </a:ext>
            </a:extLst>
          </p:cNvPr>
          <p:cNvSpPr/>
          <p:nvPr/>
        </p:nvSpPr>
        <p:spPr>
          <a:xfrm>
            <a:off x="1033272" y="4507992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4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5A545D-7757-21FA-1FAE-02C91A5A5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728" y="792729"/>
            <a:ext cx="6639104" cy="5626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7502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971FB-FB78-ED46-EE2D-E60436BAC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9816AA9B-5B90-DFD5-95FA-FDD465809D35}"/>
              </a:ext>
            </a:extLst>
          </p:cNvPr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46906AB-D5AD-C86E-C2D3-654B58BCC4C0}"/>
              </a:ext>
            </a:extLst>
          </p:cNvPr>
          <p:cNvSpPr/>
          <p:nvPr/>
        </p:nvSpPr>
        <p:spPr>
          <a:xfrm>
            <a:off x="530352" y="411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Screenshots</a:t>
            </a:r>
            <a:endParaRPr lang="en-US" sz="2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F2EF68E-E06C-C873-4109-BC0A8998CE50}"/>
              </a:ext>
            </a:extLst>
          </p:cNvPr>
          <p:cNvSpPr/>
          <p:nvPr/>
        </p:nvSpPr>
        <p:spPr>
          <a:xfrm>
            <a:off x="9555480" y="384048"/>
            <a:ext cx="1965960" cy="365760"/>
          </a:xfrm>
          <a:prstGeom prst="roundRect">
            <a:avLst>
              <a:gd name="adj" fmla="val 12500"/>
            </a:avLst>
          </a:prstGeom>
          <a:solidFill>
            <a:srgbClr val="FFF7E1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6A7BB63-E8B1-A237-845F-0FD431949DE8}"/>
              </a:ext>
            </a:extLst>
          </p:cNvPr>
          <p:cNvSpPr/>
          <p:nvPr/>
        </p:nvSpPr>
        <p:spPr>
          <a:xfrm>
            <a:off x="9656064" y="46634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B23693D-6D6D-7D0F-179E-13FC8263BFAE}"/>
              </a:ext>
            </a:extLst>
          </p:cNvPr>
          <p:cNvSpPr/>
          <p:nvPr/>
        </p:nvSpPr>
        <p:spPr>
          <a:xfrm>
            <a:off x="502920" y="64190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Certificate Verification Portal</a:t>
            </a: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11BCC6B-2EDC-088E-5865-8D9CBE5C6613}"/>
              </a:ext>
            </a:extLst>
          </p:cNvPr>
          <p:cNvSpPr/>
          <p:nvPr/>
        </p:nvSpPr>
        <p:spPr>
          <a:xfrm>
            <a:off x="11064240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B8AD177-6E9D-8B6C-511C-5693AE6E728D}"/>
              </a:ext>
            </a:extLst>
          </p:cNvPr>
          <p:cNvSpPr/>
          <p:nvPr/>
        </p:nvSpPr>
        <p:spPr>
          <a:xfrm>
            <a:off x="1033272" y="4507992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4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9FD41F-5BF9-D4EA-B7DF-44350FFDB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8756" y="411480"/>
            <a:ext cx="7394182" cy="6136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278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11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outcome and academic significance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555480" y="384048"/>
            <a:ext cx="1965960" cy="365760"/>
          </a:xfrm>
          <a:prstGeom prst="roundRect">
            <a:avLst>
              <a:gd name="adj" fmla="val 12500"/>
            </a:avLst>
          </a:prstGeom>
          <a:solidFill>
            <a:srgbClr val="FFF7E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6064" y="46634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190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Certificate Verification Portal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proposed system successfully transforms certificate issuance from a manual trust-based process into a digital, traceable, and verifiable workflow.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9808" y="2258568"/>
            <a:ext cx="91440" cy="9144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148840"/>
            <a:ext cx="6464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private blockchain ledger provides tamper-evident storage for certificate fingerprints and improves trust in issued records.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749808" y="2953512"/>
            <a:ext cx="91440" cy="9144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843784"/>
            <a:ext cx="6464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AI layer adds practical value by screening uploaded certificates for suspicious edits, cropping, and structural inconsistencies.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749808" y="3648456"/>
            <a:ext cx="91440" cy="9144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538728"/>
            <a:ext cx="6464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integrates administration, student access, PDF generation, verification, and audit logging in one deployable project.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749808" y="4343400"/>
            <a:ext cx="91440" cy="9144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233672"/>
            <a:ext cx="6464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solution is suitable for final-year academic demonstration and can be extended with a real dataset, cloud database, or enterprise deployment in future work.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7818120" y="2011680"/>
            <a:ext cx="3657600" cy="2926080"/>
          </a:xfrm>
          <a:prstGeom prst="roundRect">
            <a:avLst>
              <a:gd name="adj" fmla="val 1875"/>
            </a:avLst>
          </a:prstGeom>
          <a:solidFill>
            <a:srgbClr val="E8FBF8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18120" y="2011680"/>
            <a:ext cx="73152" cy="292608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82712" y="215798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Takeaway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982712" y="2468880"/>
            <a:ext cx="3401568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certificate becomes more trustworthy when issuance, storage, verification, and forgery screening are designed as one integrated pipeline rather than separate tasks.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7DF3D-7F07-1459-4A9E-F60682049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D2FCE75A-91D6-348C-A3DD-A83BD8E8C76C}"/>
              </a:ext>
            </a:extLst>
          </p:cNvPr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D7AAD64-94BA-107F-01CD-1845F2A51E6A}"/>
              </a:ext>
            </a:extLst>
          </p:cNvPr>
          <p:cNvSpPr/>
          <p:nvPr/>
        </p:nvSpPr>
        <p:spPr>
          <a:xfrm>
            <a:off x="530352" y="411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8A779C5-6B90-BC75-F918-0926318019CA}"/>
              </a:ext>
            </a:extLst>
          </p:cNvPr>
          <p:cNvSpPr/>
          <p:nvPr/>
        </p:nvSpPr>
        <p:spPr>
          <a:xfrm>
            <a:off x="530352" y="8412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Standards, frameworks, libraries, and project sources</a:t>
            </a:r>
            <a:endParaRPr lang="en-US" sz="9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6C1A19C-A75C-E9E1-EA6B-0A00413ECA06}"/>
              </a:ext>
            </a:extLst>
          </p:cNvPr>
          <p:cNvSpPr/>
          <p:nvPr/>
        </p:nvSpPr>
        <p:spPr>
          <a:xfrm>
            <a:off x="9555480" y="384048"/>
            <a:ext cx="1965960" cy="365760"/>
          </a:xfrm>
          <a:prstGeom prst="roundRect">
            <a:avLst>
              <a:gd name="adj" fmla="val 12500"/>
            </a:avLst>
          </a:prstGeom>
          <a:solidFill>
            <a:srgbClr val="FFF7E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37CBE76-60E4-67F6-C2BB-2F0F98265D65}"/>
              </a:ext>
            </a:extLst>
          </p:cNvPr>
          <p:cNvSpPr/>
          <p:nvPr/>
        </p:nvSpPr>
        <p:spPr>
          <a:xfrm>
            <a:off x="9656064" y="46634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27D3E95-60DB-0C05-AE66-D4087384A157}"/>
              </a:ext>
            </a:extLst>
          </p:cNvPr>
          <p:cNvSpPr/>
          <p:nvPr/>
        </p:nvSpPr>
        <p:spPr>
          <a:xfrm>
            <a:off x="502920" y="64190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Certificate Verification Portal</a:t>
            </a: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DBD3CF8-78CB-4F60-1B30-9C48328A8295}"/>
              </a:ext>
            </a:extLst>
          </p:cNvPr>
          <p:cNvSpPr/>
          <p:nvPr/>
        </p:nvSpPr>
        <p:spPr>
          <a:xfrm>
            <a:off x="11064240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31" name="Rectangle 2">
            <a:extLst>
              <a:ext uri="{FF2B5EF4-FFF2-40B4-BE49-F238E27FC236}">
                <a16:creationId xmlns:a16="http://schemas.microsoft.com/office/drawing/2014/main" id="{79661DBA-2C8B-95C1-AE37-667FEB8C0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241" y="922461"/>
            <a:ext cx="11295639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S. K. Kim and J. H. Lee, “Blockchain smart contract to prevent forgery of degree certificates,”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Electronics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vol. 11, no. 14, p. 2112, 2022. 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A. J. E. Andrade and F. C. Amate, “A decentralized academic certificate issuance system using smart contracts on the TRON network,”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preprint arXiv:2601.08513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2026. 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M.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Aldwairi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M. Badra, and R.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Borghol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“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DocCert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Document verification and authenticity blockchain solution,”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preprint arXiv:2310.09136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2023. 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X. Zhao and Y.-W. Si, “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NFTCert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NFT-based certificates with online payment gateway,”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preprint arXiv:2202.09511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2022. 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A. Farabi, I. Khandaker, N. Jahan, and I. K.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Shanto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“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ShikkhaChain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blockchain-powered academic credential verification system,”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preprint arXiv:2508.05334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2025. 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S.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Boonkrong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“Design of an academic document forgery detection system,”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International Journal of Information Technology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2025. 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L. Selvam, J. R. F. Raj, and S. Krishnan, “Forgery detection in academic certificates using hybrid deep learning framework,”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ResearchGate Conference Paper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2026. 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K. Ankit, D. Bhandari, R. Priyadarshini, and P. K. Meher, “Detection of fake physical certificates using blockchain-based certificate verification,”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Conference Proceedings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2024. 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“Blockchain-based academic certificate fraud detection: A comparative review and combined framework,”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ResearchGate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2026. 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“Certificate verification and counterfeit detection using blockchain,”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IJRASET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2023. 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“Detection of fake certificate using blockchain and issuer validation system,”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IARJSET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vol. 12, no. 5, 2025. 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“Digital certificate fraud detection using blockchain technology,”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IJERT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2024. 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Y. LeCun, Y. Bengio, and G. Hinton, “Deep learning,”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vol. 521, no. 7553, pp. 436–444, 2015. 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A.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Krizhevsky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I.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Sutskever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G. E. Hinton, “ImageNet classification with deep convolutional neural networks,”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Communications of the ACM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vol. 60, no. 6, pp. 84–90, 2017. 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K. Simonyan and A. Zisserman, “Very deep convolutional networks for large-scale image recognition,”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preprint arXiv:1409.1556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2014. 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K. He, X. Zhang, S. Ren, and J. Sun, “Deep residual learning for image recognition,” in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Proc. IEEE CVPR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2016, pp. 770–778. 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O.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Ronneberger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P. Fischer, and T. Brox, “U-Net: Convolutional networks for biomedical image segmentation,” in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MICCAI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2015, pp. 234–241. 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I. Goodfellow, Y. Bengio, and A. Courville,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Learning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MIT Press, 2016. 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S. Nakamoto, “Bitcoin: A peer-to-peer electronic cash system,” 2008. 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M. Crosby, P.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Pattanayak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S. Verma, and V. Kalyanaraman, “Blockchain technology: Beyond bitcoin,”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Innovation Review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no. 2, pp. 6–19, 2016. </a:t>
            </a:r>
          </a:p>
        </p:txBody>
      </p:sp>
    </p:spTree>
    <p:extLst>
      <p:ext uri="{BB962C8B-B14F-4D97-AF65-F5344CB8AC3E}">
        <p14:creationId xmlns:p14="http://schemas.microsoft.com/office/powerpoint/2010/main" val="3146612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11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Standards, frameworks, libraries, and project sources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555480" y="384048"/>
            <a:ext cx="1965960" cy="365760"/>
          </a:xfrm>
          <a:prstGeom prst="roundRect">
            <a:avLst>
              <a:gd name="adj" fmla="val 12500"/>
            </a:avLst>
          </a:prstGeom>
          <a:solidFill>
            <a:srgbClr val="FFF7E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6064" y="46634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190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Certificate Verification Portal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49808" y="1618488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508760"/>
            <a:ext cx="10625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Documentation. React Team. https://react.dev/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749808" y="2221992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112264"/>
            <a:ext cx="10625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Express.js Documentation. OpenJS Foundation. https://expressjs.com/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749808" y="2825496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715768"/>
            <a:ext cx="10625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Karpathy, A. ConvNetJS: Deep Learning in JavaScript. https://cs.stanford.edu/people/karpathy/convnetjs/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749808" y="3429000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319272"/>
            <a:ext cx="10625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Jones, M., Bradley, J., and Sakimura, N. JSON Web Token (JWT), RFC 7519, IETF, 2015.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749808" y="403250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922776"/>
            <a:ext cx="10625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PDF-Lib Documentation. https://pdf-lib.js.org/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749808" y="4636008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526280"/>
            <a:ext cx="10625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Jimp Documentation. https://jimp-dev.github.io/jimp/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749808" y="5239512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129784"/>
            <a:ext cx="10625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PptxGenJS Documentation. Brent Ely. https://gitbrent.github.io/PptxGenJS/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749808" y="5843016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733288"/>
            <a:ext cx="10625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Certificate Verification Portal, project source code and generated technical artifacts, 2026.</a:t>
            </a:r>
            <a:endParaRPr lang="en-US" sz="12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2531</Words>
  <Application>Microsoft Office PowerPoint</Application>
  <PresentationFormat>Widescreen</PresentationFormat>
  <Paragraphs>284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Academic Certificate Verification Portal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Blockchain-Based Academic Certificate Issuance and AI-Powered Forgery Detection</dc:title>
  <dc:subject>Final year project presentation</dc:subject>
  <dc:creator>OpenAI Codex</dc:creator>
  <cp:lastModifiedBy>Kavitha P</cp:lastModifiedBy>
  <cp:revision>3</cp:revision>
  <dcterms:created xsi:type="dcterms:W3CDTF">2026-04-12T16:53:53Z</dcterms:created>
  <dcterms:modified xsi:type="dcterms:W3CDTF">2026-04-13T07:23:50Z</dcterms:modified>
</cp:coreProperties>
</file>